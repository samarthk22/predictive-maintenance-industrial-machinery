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8"/>
  </p:notesMasterIdLst>
  <p:sldIdLst>
    <p:sldId id="283" r:id="rId2"/>
    <p:sldId id="257" r:id="rId3"/>
    <p:sldId id="282" r:id="rId4"/>
    <p:sldId id="285" r:id="rId5"/>
    <p:sldId id="278" r:id="rId6"/>
    <p:sldId id="281" r:id="rId7"/>
    <p:sldId id="279" r:id="rId8"/>
    <p:sldId id="262" r:id="rId9"/>
    <p:sldId id="264" r:id="rId10"/>
    <p:sldId id="277" r:id="rId11"/>
    <p:sldId id="286" r:id="rId12"/>
    <p:sldId id="287" r:id="rId13"/>
    <p:sldId id="280" r:id="rId14"/>
    <p:sldId id="288" r:id="rId15"/>
    <p:sldId id="289" r:id="rId16"/>
    <p:sldId id="276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37A25B-DA5D-A37C-3B36-7F0977405ABF}" v="154" dt="2026-06-19T05:59:42.731"/>
    <p1510:client id="{088AD18C-7811-B1E2-9ED5-57A1A5542DF6}" v="456" dt="2026-06-19T06:28:44.546"/>
    <p1510:client id="{A6B9108B-7598-1D50-C4AA-8A38026DAEEF}" v="18" dt="2026-06-19T06:56:18.840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E37D20EF-0791-5303-F96E-0F0C1B50B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9DCBA8EB-6D71-7B5E-841C-4BFFBDA5F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5C2CD162-5BE5-06C8-E06C-B4A49D4BCF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313540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C2F88CF5-D0C3-0228-6C1A-E849738B9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15C41DBA-EB5E-9EB1-28D2-68EF3081A2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9AACA92E-BC74-25E5-B8D5-2E658F81C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7587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A795C14E-5D6A-39A3-2018-2C72BB451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85B8BB2F-0927-3841-AC64-CC67B50358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58797E72-A3BC-0A49-07C4-DE7FDA7523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20786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600" b="1"/>
              <a:t>IBM University Engagement Project Submission</a:t>
            </a:r>
            <a:br>
              <a:rPr lang="en-US" b="1"/>
            </a:b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B85A1-2169-FF43-3E91-E2E8ADA74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14730" y="3903663"/>
            <a:ext cx="10515600" cy="1500187"/>
          </a:xfrm>
        </p:spPr>
        <p:txBody>
          <a:bodyPr/>
          <a:lstStyle/>
          <a:p>
            <a:pPr algn="ctr"/>
            <a:r>
              <a:rPr lang="en-US" b="1" i="1"/>
              <a:t>“Exploring the Power of Agentic AI with IBM Granite and </a:t>
            </a:r>
            <a:r>
              <a:rPr lang="en-US" b="1" i="1" err="1"/>
              <a:t>LangFlow</a:t>
            </a:r>
            <a:r>
              <a:rPr lang="en-US" b="1" i="1"/>
              <a:t>”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/>
          <p:nvPr/>
        </p:nvSpPr>
        <p:spPr>
          <a:xfrm>
            <a:off x="690624" y="4425370"/>
            <a:ext cx="10795794" cy="199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</a:pPr>
            <a:endParaRPr sz="15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102321" y="1174639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endParaRPr sz="3200" b="1" i="0" u="none" strike="noStrike" cap="none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2637333650"/>
              </p:ext>
            </p:extLst>
          </p:nvPr>
        </p:nvGraphicFramePr>
        <p:xfrm>
          <a:off x="1299257" y="2600315"/>
          <a:ext cx="9394989" cy="2167128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064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43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323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Student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Recent Passport Photo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Email ID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Mobile number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0" i="0" u="none" strike="noStrike" cap="none">
                          <a:solidFill>
                            <a:srgbClr val="000000"/>
                          </a:solidFill>
                          <a:latin typeface="Arial"/>
                          <a:ea typeface="Calibri"/>
                          <a:cs typeface="Arial"/>
                          <a:sym typeface="Calibri"/>
                        </a:rPr>
                        <a:t>[WhatsApp] </a:t>
                      </a:r>
                      <a:endParaRPr sz="1800" b="0" i="0" u="none" strike="noStrike" cap="none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9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Samarth </a:t>
                      </a:r>
                      <a:r>
                        <a:rPr lang="en-IN" dirty="0" err="1"/>
                        <a:t>Iranna</a:t>
                      </a:r>
                      <a:r>
                        <a:rPr lang="en-IN" dirty="0"/>
                        <a:t> Kurle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samarthkurle@gmail.com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dirty="0"/>
                        <a:t>7276085941</a:t>
                      </a:r>
                      <a:endParaRPr dirty="0"/>
                    </a:p>
                  </a:txBody>
                  <a:tcPr marL="91450" marR="91450" marT="45725" marB="45725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828B9EF-C084-F5D4-CA27-75AF7D995640}"/>
              </a:ext>
            </a:extLst>
          </p:cNvPr>
          <p:cNvSpPr txBox="1"/>
          <p:nvPr/>
        </p:nvSpPr>
        <p:spPr>
          <a:xfrm>
            <a:off x="1206164" y="1460724"/>
            <a:ext cx="10280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Domain of  Project – </a:t>
            </a:r>
            <a:r>
              <a:rPr lang="en-IN" sz="2400" dirty="0"/>
              <a:t>AI/ML-Based Predictive Maintenance for Industrial Machinery</a:t>
            </a:r>
            <a:endParaRPr lang="en-IN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723CA3-EC2D-165A-F109-3759C4E9C8A4}"/>
              </a:ext>
            </a:extLst>
          </p:cNvPr>
          <p:cNvSpPr txBox="1"/>
          <p:nvPr/>
        </p:nvSpPr>
        <p:spPr>
          <a:xfrm>
            <a:off x="1905241" y="415165"/>
            <a:ext cx="9581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Project Tile – </a:t>
            </a:r>
            <a:r>
              <a:rPr lang="en-IN" sz="2400" dirty="0"/>
              <a:t>Predictive Maintenance of Industrial Machinery </a:t>
            </a:r>
            <a:endParaRPr lang="en-IN" sz="2400" b="1" dirty="0">
              <a:highlight>
                <a:srgbClr val="FFFF00"/>
              </a:highlight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5C677D-9AFA-3018-6D9A-A8237EBF3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9259" y="3657599"/>
            <a:ext cx="1255686" cy="9670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76072" y="1234440"/>
            <a:ext cx="1060704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/>
              <a:t>Problem Statement : </a:t>
            </a:r>
            <a:r>
              <a:rPr lang="en-IN" dirty="0"/>
              <a:t>Predictive Maintenance of Industrial Machinery </a:t>
            </a:r>
            <a:endParaRPr lang="en-US" dirty="0"/>
          </a:p>
          <a:p>
            <a:pPr fontAlgn="base"/>
            <a:endParaRPr lang="en-US" b="1" dirty="0"/>
          </a:p>
          <a:p>
            <a:pPr fontAlgn="base"/>
            <a:r>
              <a:rPr lang="en-US" b="1" dirty="0"/>
              <a:t>The Challenge</a:t>
            </a:r>
            <a:r>
              <a:rPr lang="en-US" dirty="0"/>
              <a:t> </a:t>
            </a:r>
          </a:p>
          <a:p>
            <a:pPr fontAlgn="base"/>
            <a:r>
              <a:rPr lang="en-IN" dirty="0"/>
              <a:t>Industrial machines can fail unexpectedly due to </a:t>
            </a:r>
            <a:r>
              <a:rPr lang="en-IN" b="1" dirty="0"/>
              <a:t>wear, overheating, vibration, excessive load, and component degradation</a:t>
            </a:r>
            <a:r>
              <a:rPr lang="en-IN" dirty="0"/>
              <a:t>. Unexpected failures lead to </a:t>
            </a:r>
            <a:r>
              <a:rPr lang="en-IN" b="1" dirty="0"/>
              <a:t>production downtime, high maintenance costs, equipment damage, and safety risks</a:t>
            </a:r>
            <a:endParaRPr lang="en-US" dirty="0"/>
          </a:p>
          <a:p>
            <a:pPr fontAlgn="base"/>
            <a:r>
              <a:rPr lang="en-US" b="1" dirty="0"/>
              <a:t>The Objective</a:t>
            </a:r>
            <a:r>
              <a:rPr lang="en-US" dirty="0"/>
              <a:t> </a:t>
            </a:r>
          </a:p>
          <a:p>
            <a:r>
              <a:rPr lang="en-IN" dirty="0"/>
              <a:t>The main objective of this project is to develop an </a:t>
            </a:r>
            <a:r>
              <a:rPr lang="en-IN" b="1" dirty="0"/>
              <a:t>AI-based Predictive Maintenance System</a:t>
            </a:r>
            <a:r>
              <a:rPr lang="en-IN" dirty="0"/>
              <a:t> that uses machine learning to predict industrial machine failures before they occur.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To collect and </a:t>
            </a:r>
            <a:r>
              <a:rPr lang="en-IN" dirty="0" err="1"/>
              <a:t>analyze</a:t>
            </a:r>
            <a:r>
              <a:rPr lang="en-IN" dirty="0"/>
              <a:t> machine operating data.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To identify important factors responsible for machine failure.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To predict whether a machine is likely to fail.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To classify the </a:t>
            </a:r>
            <a:r>
              <a:rPr lang="en-IN" b="1" dirty="0"/>
              <a:t>type of machine failure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To provide early warnings and maintenance alerts.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To reduce unexpected machine downtime.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To minimize maintenance and operational costs.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To improve machine reliability, safety, and overall productivity.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dirty="0"/>
              <a:t>To provide an interactive dashboard for </a:t>
            </a:r>
            <a:r>
              <a:rPr lang="en-IN" b="1" dirty="0"/>
              <a:t>real-time monitoring, prediction, and visualization</a:t>
            </a:r>
            <a:r>
              <a:rPr lang="en-IN" dirty="0"/>
              <a:t> using IBM Cloud and AI tools.</a:t>
            </a:r>
          </a:p>
          <a:p>
            <a:pPr fontAlgn="base"/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47FA31-EA47-D27A-9D69-AF50A3080AEC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Problem Statement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0471B467-61AA-7BCA-460D-43041E805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1BF701-ABCA-4DF0-8330-B6AF71EF8E39}"/>
              </a:ext>
            </a:extLst>
          </p:cNvPr>
          <p:cNvSpPr txBox="1"/>
          <p:nvPr/>
        </p:nvSpPr>
        <p:spPr>
          <a:xfrm>
            <a:off x="576072" y="1165753"/>
            <a:ext cx="1060704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endParaRPr lang="en-US" b="1" dirty="0"/>
          </a:p>
          <a:p>
            <a:r>
              <a:rPr lang="en-US" b="1" dirty="0"/>
              <a:t>Proposed Solution:</a:t>
            </a:r>
          </a:p>
          <a:p>
            <a:r>
              <a:rPr lang="en-IN" dirty="0"/>
              <a:t>We propose an </a:t>
            </a:r>
            <a:r>
              <a:rPr lang="en-IN" b="1" dirty="0"/>
              <a:t>AI-powered Predictive Maintenance System</a:t>
            </a:r>
            <a:r>
              <a:rPr lang="en-IN" dirty="0"/>
              <a:t> that uses </a:t>
            </a:r>
            <a:r>
              <a:rPr lang="en-IN" b="1" dirty="0"/>
              <a:t>Machine Learning and IBM Cloud/AI tools</a:t>
            </a:r>
            <a:r>
              <a:rPr lang="en-IN" dirty="0"/>
              <a:t> to </a:t>
            </a:r>
            <a:r>
              <a:rPr lang="en-IN" dirty="0" err="1"/>
              <a:t>analyze</a:t>
            </a:r>
            <a:r>
              <a:rPr lang="en-IN" dirty="0"/>
              <a:t> industrial machine data and predict failures before they occur.</a:t>
            </a:r>
          </a:p>
          <a:p>
            <a:pPr lvl="0"/>
            <a:r>
              <a:rPr lang="en-IN" b="1" dirty="0"/>
              <a:t>Data Collection:</a:t>
            </a:r>
            <a:r>
              <a:rPr lang="en-IN" dirty="0"/>
              <a:t> Collect machine parameters such as temperature, rotational speed, torque, tool wear, and machine type. </a:t>
            </a:r>
          </a:p>
          <a:p>
            <a:pPr lvl="0"/>
            <a:r>
              <a:rPr lang="en-IN" b="1" dirty="0"/>
              <a:t>Data Processing:</a:t>
            </a:r>
            <a:r>
              <a:rPr lang="en-IN" dirty="0"/>
              <a:t> Clean, preprocess, and </a:t>
            </a:r>
            <a:r>
              <a:rPr lang="en-IN" dirty="0" err="1"/>
              <a:t>analyze</a:t>
            </a:r>
            <a:r>
              <a:rPr lang="en-IN" dirty="0"/>
              <a:t> the machine dataset to identify important patterns. </a:t>
            </a:r>
          </a:p>
          <a:p>
            <a:pPr lvl="0"/>
            <a:r>
              <a:rPr lang="en-IN" b="1" dirty="0"/>
              <a:t>AI/ML Prediction:</a:t>
            </a:r>
            <a:r>
              <a:rPr lang="en-IN" dirty="0"/>
              <a:t> Train a machine learning model to predict </a:t>
            </a:r>
            <a:r>
              <a:rPr lang="en-IN" b="1" dirty="0"/>
              <a:t>machine failure and failure type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Risk Detection:</a:t>
            </a:r>
            <a:r>
              <a:rPr lang="en-IN" dirty="0"/>
              <a:t> Calculate the machine's risk level as </a:t>
            </a:r>
            <a:r>
              <a:rPr lang="en-IN" b="1" dirty="0"/>
              <a:t>Low, Medium, or High</a:t>
            </a:r>
            <a:r>
              <a:rPr lang="en-IN" dirty="0"/>
              <a:t>. </a:t>
            </a:r>
          </a:p>
          <a:p>
            <a:pPr lvl="0"/>
            <a:r>
              <a:rPr lang="en-IN" b="1" dirty="0"/>
              <a:t>Early Alerts:</a:t>
            </a:r>
            <a:r>
              <a:rPr lang="en-IN" dirty="0"/>
              <a:t> Generate maintenance alerts when abnormal operating conditions or possible failures are detected. </a:t>
            </a:r>
          </a:p>
          <a:p>
            <a:pPr lvl="0"/>
            <a:r>
              <a:rPr lang="en-IN" b="1" dirty="0"/>
              <a:t>Interactive Dashboard:</a:t>
            </a:r>
            <a:r>
              <a:rPr lang="en-IN" dirty="0"/>
              <a:t> Display machine health, predictions, failure statistics, and important parameters through an attractive dashboard. </a:t>
            </a:r>
          </a:p>
          <a:p>
            <a:pPr lvl="0"/>
            <a:r>
              <a:rPr lang="en-IN" b="1" dirty="0"/>
              <a:t>IBM Cloud Integration:</a:t>
            </a:r>
            <a:r>
              <a:rPr lang="en-IN" dirty="0"/>
              <a:t> Use IBM Cloud/AI services for model deployment, data analysis, visualization, and scalable processing. </a:t>
            </a:r>
          </a:p>
          <a:p>
            <a:pPr lvl="0"/>
            <a:r>
              <a:rPr lang="en-IN" b="1" dirty="0"/>
              <a:t>Maintenance Recommendations:</a:t>
            </a:r>
            <a:r>
              <a:rPr lang="en-IN" dirty="0"/>
              <a:t> Provide actionable recommendations such as inspection, servicing, or component replacement. </a:t>
            </a:r>
          </a:p>
          <a:p>
            <a:pPr lvl="0"/>
            <a:r>
              <a:rPr lang="en-IN" b="1" dirty="0"/>
              <a:t>Expected Benefit:</a:t>
            </a:r>
            <a:r>
              <a:rPr lang="en-IN" dirty="0"/>
              <a:t> Reduce </a:t>
            </a:r>
            <a:r>
              <a:rPr lang="en-IN" b="1" dirty="0"/>
              <a:t>unplanned downtime, maintenance cost, equipment damage, and production losses</a:t>
            </a:r>
            <a:r>
              <a:rPr lang="en-IN" dirty="0"/>
              <a:t> while improving machine reliability and productivity.</a:t>
            </a:r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7F30CC-07EF-8FCC-DA00-C9212F5DAECE}"/>
              </a:ext>
            </a:extLst>
          </p:cNvPr>
          <p:cNvSpPr txBox="1"/>
          <p:nvPr/>
        </p:nvSpPr>
        <p:spPr>
          <a:xfrm>
            <a:off x="576072" y="704088"/>
            <a:ext cx="72146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Proposed Solution -</a:t>
            </a:r>
            <a:endParaRPr lang="en-IN" sz="2400" b="1"/>
          </a:p>
        </p:txBody>
      </p:sp>
    </p:spTree>
    <p:extLst>
      <p:ext uri="{BB962C8B-B14F-4D97-AF65-F5344CB8AC3E}">
        <p14:creationId xmlns:p14="http://schemas.microsoft.com/office/powerpoint/2010/main" val="2290294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 dirty="0"/>
              <a:t>Technology Used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777240" y="1207008"/>
            <a:ext cx="105156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Programming Language:</a:t>
            </a:r>
            <a:r>
              <a:rPr lang="en-IN" sz="1800" dirty="0"/>
              <a:t> Python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Machine Learning:</a:t>
            </a:r>
            <a:r>
              <a:rPr lang="en-IN" sz="1800" dirty="0"/>
              <a:t> Scikit-learn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Data Processing:</a:t>
            </a:r>
            <a:r>
              <a:rPr lang="en-IN" sz="1800" dirty="0"/>
              <a:t> Pandas, NumPy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Data Visualization:</a:t>
            </a:r>
            <a:r>
              <a:rPr lang="en-IN" sz="1800" dirty="0"/>
              <a:t> Matplotlib, </a:t>
            </a:r>
            <a:r>
              <a:rPr lang="en-IN" sz="1800" dirty="0" err="1"/>
              <a:t>Plotly</a:t>
            </a:r>
            <a:r>
              <a:rPr lang="en-IN" sz="18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Frontend:</a:t>
            </a:r>
            <a:r>
              <a:rPr lang="en-IN" sz="1800" dirty="0"/>
              <a:t> </a:t>
            </a:r>
            <a:r>
              <a:rPr lang="en-IN" sz="1800" dirty="0" err="1"/>
              <a:t>Streamlit</a:t>
            </a:r>
            <a:r>
              <a:rPr lang="en-IN" sz="1800" dirty="0"/>
              <a:t>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Backend:</a:t>
            </a:r>
            <a:r>
              <a:rPr lang="en-IN" sz="1800" dirty="0"/>
              <a:t> Python / Flask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AI Platform:</a:t>
            </a:r>
            <a:r>
              <a:rPr lang="en-IN" sz="1800" dirty="0"/>
              <a:t> IBM watsonx.ai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Cloud Platform:</a:t>
            </a:r>
            <a:r>
              <a:rPr lang="en-IN" sz="1800" dirty="0"/>
              <a:t> IBM Cloud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AI Development Assistant:</a:t>
            </a:r>
            <a:r>
              <a:rPr lang="en-IN" sz="1800" dirty="0"/>
              <a:t> </a:t>
            </a:r>
            <a:r>
              <a:rPr lang="en-IN" sz="1800" b="1" dirty="0"/>
              <a:t>IBM Bob</a:t>
            </a:r>
            <a:r>
              <a:rPr lang="en-IN" sz="1800" dirty="0"/>
              <a:t> – used for AI-assisted coding, project development, debugging, code generation, and improving the application architecture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Cloud Storage:</a:t>
            </a:r>
            <a:r>
              <a:rPr lang="en-IN" sz="1800" dirty="0"/>
              <a:t> IBM Cloud Object Storage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Model Deployment:</a:t>
            </a:r>
            <a:r>
              <a:rPr lang="en-IN" sz="1800" dirty="0"/>
              <a:t> IBM Cloud / watsonx.ai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Dataset:</a:t>
            </a:r>
            <a:r>
              <a:rPr lang="en-IN" sz="1800" dirty="0"/>
              <a:t> Kaggle Predictive Maintenance Dataset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Version Control:</a:t>
            </a:r>
            <a:r>
              <a:rPr lang="en-IN" sz="1800" dirty="0"/>
              <a:t> GitHub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Dashboard:</a:t>
            </a:r>
            <a:r>
              <a:rPr lang="en-IN" sz="1800" dirty="0"/>
              <a:t> </a:t>
            </a:r>
            <a:r>
              <a:rPr lang="en-IN" sz="1800" dirty="0" err="1"/>
              <a:t>Streamlit</a:t>
            </a:r>
            <a:r>
              <a:rPr lang="en-IN" sz="1800" dirty="0"/>
              <a:t> interactive dashboard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ML Algorithms:</a:t>
            </a:r>
            <a:r>
              <a:rPr lang="en-IN" sz="1800" dirty="0"/>
              <a:t> Random Forest, Decision Tree, Logistic Regression,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component Used -</a:t>
            </a:r>
            <a:endParaRPr sz="2400" b="1" dirty="0">
              <a:sym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B86949-7ED1-C43B-B1E3-5122BB67A596}"/>
              </a:ext>
            </a:extLst>
          </p:cNvPr>
          <p:cNvSpPr txBox="1"/>
          <p:nvPr/>
        </p:nvSpPr>
        <p:spPr>
          <a:xfrm>
            <a:off x="474822" y="863187"/>
            <a:ext cx="8823960" cy="5970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1800" b="1" dirty="0"/>
              <a:t>Chat Input</a:t>
            </a:r>
            <a:r>
              <a:rPr lang="en-IN" sz="1800" dirty="0"/>
              <a:t> – Receives user queries about machine health and failures.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b="1" dirty="0"/>
              <a:t>Prompt Template</a:t>
            </a:r>
            <a:r>
              <a:rPr lang="en-IN" sz="1800" dirty="0"/>
              <a:t> – Creates structured prompts for the AI model.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b="1" dirty="0"/>
              <a:t>IBM watsonx.ai / LLM Component</a:t>
            </a:r>
            <a:r>
              <a:rPr lang="en-IN" sz="1800" dirty="0"/>
              <a:t> – Processes machine information and generates AI-based insights.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b="1" dirty="0"/>
              <a:t>Python Component</a:t>
            </a:r>
            <a:r>
              <a:rPr lang="en-IN" sz="1800" dirty="0"/>
              <a:t> – Performs data processing, calculations, and predictive-maintenance logic.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b="1" dirty="0"/>
              <a:t>Data Loader</a:t>
            </a:r>
            <a:r>
              <a:rPr lang="en-IN" sz="1800" dirty="0"/>
              <a:t> – Loads the predictive-maintenance dataset.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b="1" dirty="0"/>
              <a:t>Data Transformation Component</a:t>
            </a:r>
            <a:r>
              <a:rPr lang="en-IN" sz="1800" dirty="0"/>
              <a:t> – Cleans and prepares machine data.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b="1" dirty="0"/>
              <a:t>Machine Learning Model Component</a:t>
            </a:r>
            <a:r>
              <a:rPr lang="en-IN" sz="1800" dirty="0"/>
              <a:t> – Connects the trained failure-prediction model.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b="1" dirty="0"/>
              <a:t>Conditional Router / If-Else</a:t>
            </a:r>
            <a:r>
              <a:rPr lang="en-IN" sz="1800" dirty="0"/>
              <a:t> – Routes machines according to risk level.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b="1" dirty="0"/>
              <a:t>Output Parser</a:t>
            </a:r>
            <a:r>
              <a:rPr lang="en-IN" sz="1800" dirty="0"/>
              <a:t> – Converts AI output into structured results.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b="1" dirty="0"/>
              <a:t>Chat Output</a:t>
            </a:r>
            <a:r>
              <a:rPr lang="en-IN" sz="1800" dirty="0"/>
              <a:t> – Displays the prediction and maintenance recommendation.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800" b="1" dirty="0"/>
              <a:t>API Request Component</a:t>
            </a:r>
            <a:r>
              <a:rPr lang="en-IN" sz="1800" dirty="0"/>
              <a:t> – Connects </a:t>
            </a:r>
            <a:r>
              <a:rPr lang="en-IN" sz="1800" dirty="0" err="1"/>
              <a:t>Langflow</a:t>
            </a:r>
            <a:r>
              <a:rPr lang="en-IN" sz="1800" dirty="0"/>
              <a:t> with the </a:t>
            </a:r>
            <a:r>
              <a:rPr lang="en-IN" sz="1800" dirty="0" err="1"/>
              <a:t>Streamlit</a:t>
            </a:r>
            <a:r>
              <a:rPr lang="en-IN" sz="1800" dirty="0"/>
              <a:t>/IBM Cloud application.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B64CF172-D2AF-03D8-F919-AA7827A0D969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 err="1">
                <a:sym typeface="Times New Roman"/>
              </a:rPr>
              <a:t>Langflow</a:t>
            </a: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dirty="0">
                <a:sym typeface="Times New Roman"/>
              </a:rPr>
              <a:t>workflow -</a:t>
            </a:r>
            <a:endParaRPr sz="2400" b="1" dirty="0">
              <a:sym typeface="Times New Roman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6A13B0-40F4-D88A-953D-7F0F9B426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20" y="846988"/>
            <a:ext cx="10343536" cy="593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5;p5">
            <a:extLst>
              <a:ext uri="{FF2B5EF4-FFF2-40B4-BE49-F238E27FC236}">
                <a16:creationId xmlns:a16="http://schemas.microsoft.com/office/drawing/2014/main" id="{78578745-3233-E2C4-2AF4-55BA57C68D3F}"/>
              </a:ext>
            </a:extLst>
          </p:cNvPr>
          <p:cNvSpPr/>
          <p:nvPr/>
        </p:nvSpPr>
        <p:spPr>
          <a:xfrm>
            <a:off x="537590" y="3232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/>
            <a:r>
              <a:rPr lang="en-US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 blueprint</a:t>
            </a:r>
            <a:endParaRPr lang="en-US" sz="2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91AC77-AC20-6661-FCB5-BC828118F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78426"/>
            <a:ext cx="12192000" cy="61795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371985" y="1167493"/>
            <a:ext cx="3015343" cy="452301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4A7B44-8B20-5A39-ED43-DA98D0FC7976}"/>
              </a:ext>
            </a:extLst>
          </p:cNvPr>
          <p:cNvSpPr txBox="1"/>
          <p:nvPr/>
        </p:nvSpPr>
        <p:spPr>
          <a:xfrm>
            <a:off x="475488" y="283464"/>
            <a:ext cx="93177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Role of Agentic AI in the solution </a:t>
            </a:r>
            <a:endParaRPr lang="en-IN" sz="32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462E8-EB3A-DA7D-44CB-4E757803A755}"/>
              </a:ext>
            </a:extLst>
          </p:cNvPr>
          <p:cNvSpPr txBox="1"/>
          <p:nvPr/>
        </p:nvSpPr>
        <p:spPr>
          <a:xfrm>
            <a:off x="621792" y="1167493"/>
            <a:ext cx="7406640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Agentic AI</a:t>
            </a:r>
            <a:r>
              <a:rPr lang="en-IN" dirty="0"/>
              <a:t> acts as an intelligent decision-making layer in the </a:t>
            </a:r>
            <a:r>
              <a:rPr lang="en-IN" b="1" dirty="0"/>
              <a:t>AI Predictive Maintenance System</a:t>
            </a:r>
            <a:r>
              <a:rPr lang="en-IN" dirty="0"/>
              <a:t>. Instead of only predicting machine failure, it can </a:t>
            </a:r>
            <a:r>
              <a:rPr lang="en-IN" dirty="0" err="1"/>
              <a:t>analyze</a:t>
            </a:r>
            <a:r>
              <a:rPr lang="en-IN" dirty="0"/>
              <a:t> the prediction, determine the required action, and assist in taking the next step.</a:t>
            </a:r>
          </a:p>
          <a:p>
            <a:r>
              <a:rPr lang="en-IN" b="1" dirty="0"/>
              <a:t>Key Roles:</a:t>
            </a:r>
            <a:endParaRPr lang="en-IN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Continuous Monitoring:</a:t>
            </a:r>
            <a:r>
              <a:rPr lang="en-IN" dirty="0"/>
              <a:t> Monitors machine parameters and detects abnormal conditions.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Failure Prediction:</a:t>
            </a:r>
            <a:r>
              <a:rPr lang="en-IN" dirty="0"/>
              <a:t> Uses ML predictions to identify possible machine failures.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Risk Assessment:</a:t>
            </a:r>
            <a:r>
              <a:rPr lang="en-IN" dirty="0"/>
              <a:t> Automatically classifies machine health as </a:t>
            </a:r>
            <a:r>
              <a:rPr lang="en-IN" b="1" dirty="0"/>
              <a:t>Low, Medium, or High Risk</a:t>
            </a:r>
            <a:r>
              <a:rPr lang="en-IN" dirty="0"/>
              <a:t>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Root-Cause Analysis:</a:t>
            </a:r>
            <a:r>
              <a:rPr lang="en-IN" dirty="0"/>
              <a:t> </a:t>
            </a:r>
            <a:r>
              <a:rPr lang="en-IN" dirty="0" err="1"/>
              <a:t>Analyzes</a:t>
            </a:r>
            <a:r>
              <a:rPr lang="en-IN" dirty="0"/>
              <a:t> sensor patterns to identify possible reasons for failure.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Intelligent Decision Making:</a:t>
            </a:r>
            <a:r>
              <a:rPr lang="en-IN" dirty="0"/>
              <a:t> Determines whether inspection, servicing, or component replacement may be required.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Automated Alerts:</a:t>
            </a:r>
            <a:r>
              <a:rPr lang="en-IN" dirty="0"/>
              <a:t> Generates maintenance alerts when high-risk conditions are detected.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Maintenance Recommendations:</a:t>
            </a:r>
            <a:r>
              <a:rPr lang="en-IN" dirty="0"/>
              <a:t> Uses </a:t>
            </a:r>
            <a:r>
              <a:rPr lang="en-IN" b="1" dirty="0"/>
              <a:t>IBM watsonx.ai</a:t>
            </a:r>
            <a:r>
              <a:rPr lang="en-IN" dirty="0"/>
              <a:t> to generate understandable maintenance recommendations.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Data-Based Learning:</a:t>
            </a:r>
            <a:r>
              <a:rPr lang="en-IN" dirty="0"/>
              <a:t> Uses historical machine data and previous failures to improve future decisions.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Human Assistance:</a:t>
            </a:r>
            <a:r>
              <a:rPr lang="en-IN" dirty="0"/>
              <a:t> Provides engineers with AI-generated insights while keeping the final maintenance decision with the human expert. 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IN" b="1" dirty="0"/>
              <a:t>IBM Bob Integration:</a:t>
            </a:r>
            <a:r>
              <a:rPr lang="en-IN" dirty="0"/>
              <a:t> Supports developers by assisting with code generation, debugging, workflow development, and integration.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793192" y="341560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7142"/>
              </a:lnSpc>
              <a:buClr>
                <a:srgbClr val="051D3A"/>
              </a:buClr>
              <a:buSzPts val="3500"/>
            </a:pPr>
            <a:r>
              <a:rPr lang="en-US" sz="2400" b="1">
                <a:sym typeface="Times New Roman"/>
              </a:rPr>
              <a:t>Token Usage </a:t>
            </a:r>
            <a:endParaRPr sz="2400" b="1"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D576A0-BF64-32B6-1E59-49AA2C59C5CE}"/>
              </a:ext>
            </a:extLst>
          </p:cNvPr>
          <p:cNvSpPr txBox="1"/>
          <p:nvPr/>
        </p:nvSpPr>
        <p:spPr>
          <a:xfrm>
            <a:off x="897392" y="1042133"/>
            <a:ext cx="4371171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11,761 token are used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E29AF1D-88C4-87E5-74DF-4E97121E0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40" y="2453592"/>
            <a:ext cx="5095875" cy="2857500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1444F5-0692-DD67-1759-70821E53B0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9601" y="2451181"/>
            <a:ext cx="5724525" cy="2857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B8E599E-5B1D-59CD-4F1D-CEF8D0CA327B}"/>
              </a:ext>
            </a:extLst>
          </p:cNvPr>
          <p:cNvSpPr txBox="1"/>
          <p:nvPr/>
        </p:nvSpPr>
        <p:spPr>
          <a:xfrm>
            <a:off x="1278639" y="1718067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/>
              <a:t>Before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22EA981-5113-2D05-C1A2-169306E1D47C}"/>
              </a:ext>
            </a:extLst>
          </p:cNvPr>
          <p:cNvSpPr txBox="1"/>
          <p:nvPr/>
        </p:nvSpPr>
        <p:spPr>
          <a:xfrm>
            <a:off x="7106828" y="1722919"/>
            <a:ext cx="274319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u="sng" dirty="0"/>
              <a:t>After the Prompt</a:t>
            </a:r>
          </a:p>
        </p:txBody>
      </p:sp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EEDEC80F-FA4E-F3FF-DE90-87B861D0B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A184BA-BCF2-3D7B-30D0-0F3CF30C161B}"/>
              </a:ext>
            </a:extLst>
          </p:cNvPr>
          <p:cNvSpPr txBox="1"/>
          <p:nvPr/>
        </p:nvSpPr>
        <p:spPr>
          <a:xfrm>
            <a:off x="777240" y="484632"/>
            <a:ext cx="7123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Novelty and Uniqueness</a:t>
            </a:r>
            <a:endParaRPr lang="en-IN" sz="24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65F54F-855A-0DB6-09A6-3212C5F7405B}"/>
              </a:ext>
            </a:extLst>
          </p:cNvPr>
          <p:cNvSpPr txBox="1"/>
          <p:nvPr/>
        </p:nvSpPr>
        <p:spPr>
          <a:xfrm>
            <a:off x="777240" y="1207008"/>
            <a:ext cx="11301984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The proposed </a:t>
            </a:r>
            <a:r>
              <a:rPr lang="en-IN" sz="1600" b="1" dirty="0"/>
              <a:t>AI-Based Predictive Maintenance System</a:t>
            </a:r>
            <a:r>
              <a:rPr lang="en-IN" sz="1600" dirty="0"/>
              <a:t> is unique because it combines </a:t>
            </a:r>
            <a:r>
              <a:rPr lang="en-IN" sz="1600" b="1" dirty="0"/>
              <a:t>Machine Learning, Agentic AI, </a:t>
            </a:r>
            <a:r>
              <a:rPr lang="en-IN" sz="1600" b="1" dirty="0" err="1"/>
              <a:t>Langflow</a:t>
            </a:r>
            <a:r>
              <a:rPr lang="en-IN" sz="1600" b="1" dirty="0"/>
              <a:t>, IBM watsonx.ai, IBM Cloud, and IBM Bob</a:t>
            </a:r>
            <a:r>
              <a:rPr lang="en-IN" sz="1600" dirty="0"/>
              <a:t> into a single intelligent maintenance solution.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AI-Based Early Failure Prediction:</a:t>
            </a:r>
            <a:r>
              <a:rPr lang="en-IN" sz="1600" dirty="0"/>
              <a:t> Predicts machine failure before breakdown occurs.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Agentic AI Decision Support:</a:t>
            </a:r>
            <a:r>
              <a:rPr lang="en-IN" sz="1600" dirty="0"/>
              <a:t> Goes beyond prediction by </a:t>
            </a:r>
            <a:r>
              <a:rPr lang="en-IN" sz="1600" dirty="0" err="1"/>
              <a:t>analyzing</a:t>
            </a:r>
            <a:r>
              <a:rPr lang="en-IN" sz="1600" dirty="0"/>
              <a:t> risks and suggesting appropriate maintenance actions.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Multi-Level Risk Detection:</a:t>
            </a:r>
            <a:r>
              <a:rPr lang="en-IN" sz="1600" dirty="0"/>
              <a:t> Classifies machine condition into </a:t>
            </a:r>
            <a:r>
              <a:rPr lang="en-IN" sz="1600" b="1" dirty="0"/>
              <a:t>Low, Medium, and High Risk</a:t>
            </a:r>
            <a:r>
              <a:rPr lang="en-IN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Explainable AI Recommendations:</a:t>
            </a:r>
            <a:r>
              <a:rPr lang="en-IN" sz="1600" dirty="0"/>
              <a:t> Provides understandable reasons and maintenance recommendations instead of only giving a failure result.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 err="1"/>
              <a:t>Langflow</a:t>
            </a:r>
            <a:r>
              <a:rPr lang="en-IN" sz="1600" b="1" dirty="0"/>
              <a:t> AI Workflow:</a:t>
            </a:r>
            <a:r>
              <a:rPr lang="en-IN" sz="1600" dirty="0"/>
              <a:t> Connects data processing, ML prediction, AI reasoning, and recommendations through a visual workflow.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IBM Cloud Integration:</a:t>
            </a:r>
            <a:r>
              <a:rPr lang="en-IN" sz="1600" dirty="0"/>
              <a:t> Provides a scalable environment for storing, processing, deploying, and monitoring the AI solution.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IBM watsonx.ai Integration:</a:t>
            </a:r>
            <a:r>
              <a:rPr lang="en-IN" sz="1600" dirty="0"/>
              <a:t> Enables intelligent analysis and natural-language maintenance insights.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IBM Bob-Assisted Development:</a:t>
            </a:r>
            <a:r>
              <a:rPr lang="en-IN" sz="1600" dirty="0"/>
              <a:t> Accelerates application development, debugging, code generation, and AI workflow integration.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Interactive Dashboard:</a:t>
            </a:r>
            <a:r>
              <a:rPr lang="en-IN" sz="1600" dirty="0"/>
              <a:t> Provides machine-health status, failure probability, risk level, historical trends, and maintenance recommendations in one interface.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Proactive Maintenance:</a:t>
            </a:r>
            <a:r>
              <a:rPr lang="en-IN" sz="1600" dirty="0"/>
              <a:t> Helps shift industries from </a:t>
            </a:r>
            <a:r>
              <a:rPr lang="en-IN" sz="1600" b="1" dirty="0"/>
              <a:t>reactive maintenance</a:t>
            </a:r>
            <a:r>
              <a:rPr lang="en-IN" sz="1600" dirty="0"/>
              <a:t> to </a:t>
            </a:r>
            <a:r>
              <a:rPr lang="en-IN" sz="1600" b="1" dirty="0"/>
              <a:t>predictive and condition-based maintenance</a:t>
            </a:r>
            <a:r>
              <a:rPr lang="en-IN" sz="1600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Scalable Architecture:</a:t>
            </a:r>
            <a:r>
              <a:rPr lang="en-IN" sz="1600" dirty="0"/>
              <a:t> The system can be extended to multiple machines, factories, sensors, and industrial environments.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7964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7BB3C0CA-2F24-30DF-1D65-4440B864F0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187EEB9C-2E84-113A-3CE6-1507BF5B039F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>
                <a:sym typeface="Times New Roman"/>
              </a:rPr>
              <a:t>Git Hub Link</a:t>
            </a:r>
            <a:endParaRPr sz="2400" b="1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3711AF54-94A6-B837-31EF-9A8C4ECB9AF6}"/>
              </a:ext>
            </a:extLst>
          </p:cNvPr>
          <p:cNvSpPr/>
          <p:nvPr/>
        </p:nvSpPr>
        <p:spPr>
          <a:xfrm>
            <a:off x="1218724" y="1153712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E228982D-BF81-530A-CBA1-E897A3CA8EF7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7BC356B8-92F8-3187-D065-667AACF68E72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1558A011-60D6-B010-6117-1B9F7C786B2B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B787D7-691E-17C7-B00C-F6BBC42B2C3D}"/>
              </a:ext>
            </a:extLst>
          </p:cNvPr>
          <p:cNvSpPr txBox="1"/>
          <p:nvPr/>
        </p:nvSpPr>
        <p:spPr>
          <a:xfrm>
            <a:off x="1107440" y="1427287"/>
            <a:ext cx="64107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https://github.com/Samarthk22/predictive-maintenance-industrial-machinery.git</a:t>
            </a:r>
          </a:p>
        </p:txBody>
      </p:sp>
    </p:spTree>
    <p:extLst>
      <p:ext uri="{BB962C8B-B14F-4D97-AF65-F5344CB8AC3E}">
        <p14:creationId xmlns:p14="http://schemas.microsoft.com/office/powerpoint/2010/main" val="26058519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18724" y="4207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400" b="1" dirty="0">
                <a:sym typeface="Times New Roman"/>
              </a:rPr>
              <a:t>Future Scope </a:t>
            </a:r>
            <a:endParaRPr sz="2400" b="1" dirty="0"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EAFA16CB-0A72-5AC5-69A0-ABF4A752B43F}"/>
              </a:ext>
            </a:extLst>
          </p:cNvPr>
          <p:cNvSpPr/>
          <p:nvPr/>
        </p:nvSpPr>
        <p:spPr>
          <a:xfrm>
            <a:off x="1218724" y="1221715"/>
            <a:ext cx="9214580" cy="4592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IN" sz="2000" dirty="0"/>
              <a:t>The AI-Based Predictive Maintenance System can be further enhanced and deployed for real-world industrial applications.</a:t>
            </a:r>
          </a:p>
          <a:p>
            <a:pPr lvl="0"/>
            <a:r>
              <a:rPr lang="en-IN" sz="2000" b="1" dirty="0"/>
              <a:t>IoT Sensor Integration:</a:t>
            </a:r>
            <a:r>
              <a:rPr lang="en-IN" sz="2000" dirty="0"/>
              <a:t> Connect real-time sensors for temperature, vibration, pressure, speed, and torque monitoring. </a:t>
            </a:r>
          </a:p>
          <a:p>
            <a:pPr lvl="0"/>
            <a:r>
              <a:rPr lang="en-IN" sz="2000" b="1" dirty="0"/>
              <a:t>Real-Time Prediction:</a:t>
            </a:r>
            <a:r>
              <a:rPr lang="en-IN" sz="2000" dirty="0"/>
              <a:t> Provide continuous machine-health monitoring and instant failure prediction. </a:t>
            </a:r>
          </a:p>
          <a:p>
            <a:pPr lvl="0"/>
            <a:r>
              <a:rPr lang="en-IN" sz="2000" b="1" dirty="0"/>
              <a:t>Advanced AI Models:</a:t>
            </a:r>
            <a:r>
              <a:rPr lang="en-IN" sz="2000" dirty="0"/>
              <a:t> Use Deep Learning, LSTM, Transformers, and advanced time-series models for higher prediction accuracy. </a:t>
            </a:r>
          </a:p>
          <a:p>
            <a:pPr lvl="0"/>
            <a:r>
              <a:rPr lang="en-IN" sz="2000" b="1" dirty="0"/>
              <a:t>Remaining Useful Life (RUL):</a:t>
            </a:r>
            <a:r>
              <a:rPr lang="en-IN" sz="2000" dirty="0"/>
              <a:t> Predict the remaining operating life of machine components. </a:t>
            </a:r>
          </a:p>
          <a:p>
            <a:pPr lvl="0"/>
            <a:r>
              <a:rPr lang="en-IN" sz="2000" b="1" dirty="0"/>
              <a:t>Digital Twin Integration:</a:t>
            </a:r>
            <a:r>
              <a:rPr lang="en-IN" sz="2000" dirty="0"/>
              <a:t> Develop a digital twin of industrial machines for virtual monitoring and failure simulation. </a:t>
            </a:r>
          </a:p>
          <a:p>
            <a:pPr lvl="0"/>
            <a:r>
              <a:rPr lang="en-IN" sz="2000" b="1" dirty="0"/>
              <a:t>Autonomous Agentic AI:</a:t>
            </a:r>
            <a:r>
              <a:rPr lang="en-IN" sz="2000" dirty="0"/>
              <a:t> Enable AI agents to automatically </a:t>
            </a:r>
            <a:r>
              <a:rPr lang="en-IN" sz="2000" dirty="0" err="1"/>
              <a:t>analyze</a:t>
            </a:r>
            <a:r>
              <a:rPr lang="en-IN" sz="2000" dirty="0"/>
              <a:t> failures, prioritize maintenance tasks, and generate work orders. </a:t>
            </a:r>
          </a:p>
          <a:p>
            <a:pPr lvl="0"/>
            <a:r>
              <a:rPr lang="en-IN" sz="2000" b="1" dirty="0"/>
              <a:t>Computer Vision:</a:t>
            </a:r>
            <a:r>
              <a:rPr lang="en-IN" sz="2000" dirty="0"/>
              <a:t> Use cameras to detect cracks, wear, corrosion, overheating, and other visible defects. </a:t>
            </a:r>
          </a:p>
          <a:p>
            <a:pPr lvl="0"/>
            <a:r>
              <a:rPr lang="en-IN" sz="2000" b="1" dirty="0"/>
              <a:t>Mobile Application:</a:t>
            </a:r>
            <a:r>
              <a:rPr lang="en-IN" sz="2000" dirty="0"/>
              <a:t> Develop an Android/iOS application for maintenance engineers and plant managers.</a:t>
            </a: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1C7BCA-5DD7-F4D3-A937-D1C56976DA01}"/>
              </a:ext>
            </a:extLst>
          </p:cNvPr>
          <p:cNvSpPr txBox="1"/>
          <p:nvPr/>
        </p:nvSpPr>
        <p:spPr>
          <a:xfrm>
            <a:off x="327949" y="207380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Certificates Earned:</a:t>
            </a:r>
          </a:p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37D5EE-379B-FDC5-0854-8AC81D31FADF}"/>
              </a:ext>
            </a:extLst>
          </p:cNvPr>
          <p:cNvSpPr txBox="1"/>
          <p:nvPr/>
        </p:nvSpPr>
        <p:spPr>
          <a:xfrm>
            <a:off x="552048" y="690061"/>
            <a:ext cx="638996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/>
              <a:t>Please  add your credly certificate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D2A086-37D6-5DBB-C03C-BFCA6035B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587" y="1116691"/>
            <a:ext cx="10353367" cy="574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047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8544A9-CF92-3FAF-D3EE-31DF90F7A64D}"/>
              </a:ext>
            </a:extLst>
          </p:cNvPr>
          <p:cNvSpPr txBox="1"/>
          <p:nvPr/>
        </p:nvSpPr>
        <p:spPr>
          <a:xfrm>
            <a:off x="176696" y="226391"/>
            <a:ext cx="609600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i="0" u="none" strike="noStrike" baseline="0">
                <a:solidFill>
                  <a:srgbClr val="000000"/>
                </a:solidFill>
                <a:latin typeface="Arial"/>
              </a:rPr>
              <a:t>Certificates Earned:</a:t>
            </a:r>
            <a:r>
              <a:rPr sz="240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​</a:t>
            </a:r>
            <a:endParaRPr lang="en-US"/>
          </a:p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D36B1A-26C2-CD55-1032-4CB5E4EDF305}"/>
              </a:ext>
            </a:extLst>
          </p:cNvPr>
          <p:cNvSpPr txBox="1"/>
          <p:nvPr/>
        </p:nvSpPr>
        <p:spPr>
          <a:xfrm>
            <a:off x="496843" y="800470"/>
            <a:ext cx="543768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/>
              <a:t>Add your IBM BOB Certificate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F5C87F-D564-5A9B-859D-F50390AB4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157" y="1120877"/>
            <a:ext cx="10211685" cy="556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610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1328</Words>
  <Application>Microsoft Office PowerPoint</Application>
  <PresentationFormat>Widescreen</PresentationFormat>
  <Paragraphs>136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Office Theme</vt:lpstr>
      <vt:lpstr>IBM University Engagement Project Submission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Samarth Kurle</cp:lastModifiedBy>
  <cp:revision>13</cp:revision>
  <dcterms:created xsi:type="dcterms:W3CDTF">2025-07-08T05:06:56Z</dcterms:created>
  <dcterms:modified xsi:type="dcterms:W3CDTF">2026-09-11T17:45:15Z</dcterms:modified>
</cp:coreProperties>
</file>